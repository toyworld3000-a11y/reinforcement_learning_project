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63" r:id="rId2"/>
    <p:sldId id="256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1016"/>
    <a:srgbClr val="FF6174"/>
    <a:srgbClr val="C9CACA"/>
    <a:srgbClr val="FF6F7C"/>
    <a:srgbClr val="F25C70"/>
    <a:srgbClr val="F35C70"/>
    <a:srgbClr val="CB4B59"/>
    <a:srgbClr val="AB404C"/>
    <a:srgbClr val="990E16"/>
    <a:srgbClr val="8C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84127" autoAdjust="0"/>
  </p:normalViewPr>
  <p:slideViewPr>
    <p:cSldViewPr snapToGrid="0">
      <p:cViewPr varScale="1">
        <p:scale>
          <a:sx n="136" d="100"/>
          <a:sy n="136" d="100"/>
        </p:scale>
        <p:origin x="2412" y="-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B0E77-CE93-214A-B45A-A563FB9F744F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7CF06-863F-DC40-9D77-00A8FEC831F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642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889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794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2756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747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984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274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9377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1734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7215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5295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7CF06-863F-DC40-9D77-00A8FEC831F3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1356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5286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814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738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646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618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273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639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082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405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163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533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D1927-EF94-B64D-842C-81E193992D39}" type="datetimeFigureOut">
              <a:rPr kumimoji="1" lang="ko-KR" altLang="en-US" smtClean="0"/>
              <a:t>2025-12-05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C70A1-358E-2442-A3FB-3F9B335E0EF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738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toyworld3000-a11y/reinforcement_learning_projec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EDD3983-103A-2C5B-F0DA-E9A40A390F6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85000" contrast="9000"/>
            <a:alphaModFix amt="20000"/>
          </a:blip>
          <a:stretch>
            <a:fillRect/>
          </a:stretch>
        </p:blipFill>
        <p:spPr>
          <a:xfrm>
            <a:off x="5966307" y="3178478"/>
            <a:ext cx="2739283" cy="39741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F6DEE8-7A92-A538-425F-98DD1BF3AC0D}"/>
              </a:ext>
            </a:extLst>
          </p:cNvPr>
          <p:cNvSpPr txBox="1"/>
          <p:nvPr/>
        </p:nvSpPr>
        <p:spPr>
          <a:xfrm>
            <a:off x="437176" y="2505670"/>
            <a:ext cx="786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6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DQN</a:t>
            </a:r>
            <a:r>
              <a:rPr kumimoji="1" lang="ko-KR" altLang="en-US" sz="36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을 활용한 </a:t>
            </a:r>
            <a:r>
              <a:rPr kumimoji="1" lang="en-US" altLang="ko-KR" sz="36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LunarLander</a:t>
            </a:r>
            <a:r>
              <a:rPr kumimoji="1" lang="en-US" altLang="ko-KR" sz="36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</a:t>
            </a:r>
          </a:p>
          <a:p>
            <a:r>
              <a:rPr kumimoji="1" lang="ko-KR" altLang="en-US" sz="36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자율 착륙 에이전트 개발</a:t>
            </a:r>
            <a:endParaRPr kumimoji="1" lang="en-US" altLang="ko-KR" sz="36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580CE-E7D0-1A36-D09A-1C4515035026}"/>
              </a:ext>
            </a:extLst>
          </p:cNvPr>
          <p:cNvSpPr txBox="1"/>
          <p:nvPr/>
        </p:nvSpPr>
        <p:spPr>
          <a:xfrm>
            <a:off x="437176" y="1983157"/>
            <a:ext cx="5689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Sogang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University</a:t>
            </a:r>
            <a:endParaRPr kumimoji="1" lang="ko-KR" altLang="en-US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D5BC3-C637-D907-BC9C-D15D7B01E893}"/>
              </a:ext>
            </a:extLst>
          </p:cNvPr>
          <p:cNvSpPr txBox="1"/>
          <p:nvPr/>
        </p:nvSpPr>
        <p:spPr>
          <a:xfrm>
            <a:off x="437175" y="5398759"/>
            <a:ext cx="76236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강화학습의 기초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지도교수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: </a:t>
            </a:r>
            <a:r>
              <a:rPr kumimoji="1" lang="ko-KR" altLang="en-US" sz="1400" dirty="0" err="1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소정민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AI • SW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대학원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ko-KR" altLang="en-US" sz="1400" dirty="0" err="1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데이터사이언스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 인공지능</a:t>
            </a:r>
            <a:b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</a:b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A70031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권용우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Git :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SOGANG UNIVERSITY" pitchFamily="2" charset="-127"/>
                <a:ea typeface="SOGANG UNIVERSITY" pitchFamily="2" charset="-127"/>
                <a:hlinkClick r:id="rId4"/>
              </a:rPr>
              <a:t>https://github.com/toyworld3000-a11y/reinforcement_learning_project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  <a:p>
            <a:endParaRPr kumimoji="1" lang="en-US" altLang="ko-KR" sz="1400" dirty="0">
              <a:solidFill>
                <a:schemeClr val="bg1">
                  <a:lumMod val="85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B7CD9D4F-417D-6E81-8304-8A7C4F7263BE}"/>
              </a:ext>
            </a:extLst>
          </p:cNvPr>
          <p:cNvCxnSpPr>
            <a:cxnSpLocks/>
          </p:cNvCxnSpPr>
          <p:nvPr/>
        </p:nvCxnSpPr>
        <p:spPr>
          <a:xfrm>
            <a:off x="437175" y="5223354"/>
            <a:ext cx="303253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67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4E7DCE-640A-A4C1-E9FB-F1B9F5AF3725}"/>
              </a:ext>
            </a:extLst>
          </p:cNvPr>
          <p:cNvSpPr txBox="1"/>
          <p:nvPr/>
        </p:nvSpPr>
        <p:spPr>
          <a:xfrm>
            <a:off x="437175" y="404231"/>
            <a:ext cx="5689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5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Index</a:t>
            </a:r>
            <a:endParaRPr kumimoji="1" lang="ko-KR" altLang="en-US" sz="54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20839-6E1A-8723-7D2C-1D091E1959A3}"/>
              </a:ext>
            </a:extLst>
          </p:cNvPr>
          <p:cNvSpPr txBox="1"/>
          <p:nvPr/>
        </p:nvSpPr>
        <p:spPr>
          <a:xfrm>
            <a:off x="694576" y="1685490"/>
            <a:ext cx="7905727" cy="4546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프로젝트 주제 및 목표</a:t>
            </a:r>
            <a:endParaRPr kumimoji="1" lang="en-US" altLang="ko-KR" sz="28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환경 및 </a:t>
            </a:r>
            <a:r>
              <a:rPr kumimoji="1" lang="ko-KR" altLang="en-US" sz="2800" dirty="0" err="1">
                <a:solidFill>
                  <a:schemeClr val="bg1"/>
                </a:solidFill>
                <a:ea typeface="SOGANG UNIVERSITY" pitchFamily="2" charset="-127"/>
              </a:rPr>
              <a:t>전처리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설계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강화학습 알고리즘 및 </a:t>
            </a:r>
            <a:r>
              <a:rPr kumimoji="1" lang="ko-KR" altLang="en-US" sz="2800" dirty="0" err="1">
                <a:solidFill>
                  <a:schemeClr val="bg1"/>
                </a:solidFill>
                <a:ea typeface="SOGANG UNIVERSITY" pitchFamily="2" charset="-127"/>
              </a:rPr>
              <a:t>하이퍼파라미터</a:t>
            </a: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 설명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실험 셋업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결과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2800" dirty="0">
                <a:solidFill>
                  <a:schemeClr val="bg1"/>
                </a:solidFill>
                <a:ea typeface="SOGANG UNIVERSITY" pitchFamily="2" charset="-127"/>
              </a:rPr>
              <a:t>결론</a:t>
            </a:r>
            <a:endParaRPr kumimoji="1" lang="en-US" altLang="ko-KR" sz="2800" dirty="0">
              <a:solidFill>
                <a:schemeClr val="bg1"/>
              </a:solidFill>
              <a:ea typeface="SOGANG UNIVERSITY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4ABA3D0-130D-1434-A508-FB010714B94A}"/>
              </a:ext>
            </a:extLst>
          </p:cNvPr>
          <p:cNvCxnSpPr>
            <a:cxnSpLocks/>
          </p:cNvCxnSpPr>
          <p:nvPr/>
        </p:nvCxnSpPr>
        <p:spPr>
          <a:xfrm>
            <a:off x="437175" y="1506525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0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1.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프로젝트 주제 및 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393653"/>
            <a:ext cx="82698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주제 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Deep Q-Network (DQN)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알고리즘을 활용한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Lunar Lander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의 안전한 자율 착륙 제어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목표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착륙선을 깃발 사이의 착륙 패드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좌표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0,0)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 부드럽게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착륙시킴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엔진 사용을 최소화하여 연료 효율성을 높임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불필요한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호버링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방지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최근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100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에피소드의 평균 점수가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200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점 이상 도달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5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환경 및 </a:t>
            </a:r>
            <a:r>
              <a:rPr kumimoji="1" lang="ko-KR" altLang="en-US" sz="24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전처리</a:t>
            </a:r>
            <a:endParaRPr kumimoji="1" lang="ko-KR" altLang="en-US" sz="24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401891"/>
            <a:ext cx="82698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환경 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OpenAI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Gymnasium LunarLander-v3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Box2D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기반으로 중력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마찰력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추진력이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시뮬레이션되는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환경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착륙선은 초기 상단 중앙에서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랜덤한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힘을 받으며 시작됨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전처리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신경망의 학습 안정성을 위해 입력 데이터를 정규 분포로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스케일링하거나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값의 범위를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클리핑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.(Raw Data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사용하되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신경망 첫 레이어에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Batch Normalization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고려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(State, Action, Reward, </a:t>
            </a:r>
            <a:r>
              <a:rPr kumimoji="1" lang="en-US" altLang="ko-KR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Next_State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Done)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튜플을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저장하여 학습 데이터셋으로 활용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00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3.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195941"/>
            <a:ext cx="826985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Agent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는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8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차원의 연속적인 벡터를 관측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위치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선속도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각도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각속도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접지 여부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Discrete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Action Space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는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0: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자유 낙하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1: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오른쪽으로 밀림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위쪽으로 밀림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연료 소모 큼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3: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왼쪽으로 밀림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Reward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위치 보상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: (0,0)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 가까워질수록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속도가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0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에수렴할수록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높은 보상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다리 접촉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다리가 땅에 닿으면 각각 보상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(+10)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연료 페널티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메인 엔진 사용 시 프레임당 감점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(-0.3),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사이드 엔진 사용 시 감점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(-0.03)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종료 보상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안전 착륙 시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+100,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추락 시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-100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91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4.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강화학습 알고리즘 및 </a:t>
            </a:r>
            <a:r>
              <a:rPr kumimoji="1" lang="ko-KR" altLang="en-US" sz="24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하이퍼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파라미터 설명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195941"/>
            <a:ext cx="82698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DQN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Q-Table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을 만들 수 없는 연속적인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State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공간을 다루기 위해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Neural Network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로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Q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함수를 근사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Experience Replay: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데이터 간의 상관관계를 끊기 위해 버퍼에 저장 후 랜덤 샘플링 학습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Target Network: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학습의 목표가 되는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Q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값을 고정시켜 학습 진동 방지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21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4.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강화학습 알고리즘 및 </a:t>
            </a:r>
            <a:r>
              <a:rPr kumimoji="1" lang="ko-KR" altLang="en-US" sz="24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하이퍼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파라미터 설명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195941"/>
            <a:ext cx="82698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하이퍼파라미터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68B7670-BB8D-4F2D-B3FD-B119714FC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04962"/>
              </p:ext>
            </p:extLst>
          </p:nvPr>
        </p:nvGraphicFramePr>
        <p:xfrm>
          <a:off x="1523382" y="1987454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07">
                  <a:extLst>
                    <a:ext uri="{9D8B030D-6E8A-4147-A177-3AD203B41FA5}">
                      <a16:colId xmlns:a16="http://schemas.microsoft.com/office/drawing/2014/main" val="3573856426"/>
                    </a:ext>
                  </a:extLst>
                </a:gridCol>
                <a:gridCol w="1787611">
                  <a:extLst>
                    <a:ext uri="{9D8B030D-6E8A-4147-A177-3AD203B41FA5}">
                      <a16:colId xmlns:a16="http://schemas.microsoft.com/office/drawing/2014/main" val="265225386"/>
                    </a:ext>
                  </a:extLst>
                </a:gridCol>
                <a:gridCol w="2437782">
                  <a:extLst>
                    <a:ext uri="{9D8B030D-6E8A-4147-A177-3AD203B41FA5}">
                      <a16:colId xmlns:a16="http://schemas.microsoft.com/office/drawing/2014/main" val="2449499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Parameter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Description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41222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Learning Rate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5.00E-04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dirty="0">
                          <a:effectLst/>
                        </a:rPr>
                        <a:t>Adam Optimizer </a:t>
                      </a:r>
                      <a:r>
                        <a:rPr lang="ko-KR" altLang="en-US" sz="1600" dirty="0">
                          <a:effectLst/>
                        </a:rPr>
                        <a:t>사용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63173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Gamma (</a:t>
                      </a:r>
                      <a:r>
                        <a:rPr lang="el-GR" dirty="0">
                          <a:effectLst/>
                        </a:rPr>
                        <a:t>γ)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dirty="0">
                          <a:effectLst/>
                        </a:rPr>
                        <a:t>0.99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dirty="0">
                          <a:effectLst/>
                        </a:rPr>
                        <a:t>미래 보상 할인율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6193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Batch Size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dirty="0">
                          <a:effectLst/>
                        </a:rPr>
                        <a:t>64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dirty="0">
                          <a:effectLst/>
                        </a:rPr>
                        <a:t>미니배치 크기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90565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Buffer Size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dirty="0">
                          <a:effectLst/>
                        </a:rPr>
                        <a:t>100,000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dirty="0">
                          <a:effectLst/>
                        </a:rPr>
                        <a:t>Replay Buffer </a:t>
                      </a:r>
                      <a:r>
                        <a:rPr lang="ko-KR" altLang="en-US" sz="1600" dirty="0">
                          <a:effectLst/>
                        </a:rPr>
                        <a:t>용량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1390335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Epsilon (</a:t>
                      </a:r>
                      <a:r>
                        <a:rPr lang="el-GR" dirty="0">
                          <a:effectLst/>
                        </a:rPr>
                        <a:t>ϵ)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dirty="0">
                          <a:effectLst/>
                        </a:rPr>
                        <a:t>1.0→0.01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600" dirty="0">
                          <a:effectLst/>
                        </a:rPr>
                        <a:t>탐험 비율 </a:t>
                      </a:r>
                      <a:r>
                        <a:rPr lang="en-US" sz="1600" dirty="0">
                          <a:effectLst/>
                        </a:rPr>
                        <a:t>0.995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203898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Network Arch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FC(64) - FC(64)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200" dirty="0">
                          <a:effectLst/>
                        </a:rPr>
                        <a:t>2</a:t>
                      </a:r>
                      <a:r>
                        <a:rPr lang="ko-KR" altLang="en-US" sz="1200" dirty="0">
                          <a:effectLst/>
                        </a:rPr>
                        <a:t>개의 </a:t>
                      </a:r>
                      <a:r>
                        <a:rPr lang="ko-KR" altLang="en-US" sz="1200" dirty="0" err="1">
                          <a:effectLst/>
                        </a:rPr>
                        <a:t>은닉층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en-US" altLang="ko-KR" sz="1200" dirty="0" err="1">
                          <a:effectLst/>
                        </a:rPr>
                        <a:t>ReLU</a:t>
                      </a:r>
                      <a:r>
                        <a:rPr lang="en-US" altLang="ko-KR" sz="1200" dirty="0">
                          <a:effectLst/>
                        </a:rPr>
                        <a:t> </a:t>
                      </a:r>
                      <a:r>
                        <a:rPr lang="ko-KR" altLang="en-US" sz="1200" dirty="0">
                          <a:effectLst/>
                        </a:rPr>
                        <a:t>활성화 함수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288066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Target Update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100 steps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400" dirty="0">
                          <a:effectLst/>
                        </a:rPr>
                        <a:t>Target Network </a:t>
                      </a:r>
                      <a:r>
                        <a:rPr lang="ko-KR" altLang="en-US" sz="1400" dirty="0">
                          <a:effectLst/>
                        </a:rPr>
                        <a:t>업데이트 주기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3380845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32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5.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실험 셋업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7174" y="1195941"/>
            <a:ext cx="826985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실험 환경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Library: Python 3.10.9, Gymnasium, </a:t>
            </a:r>
            <a:r>
              <a:rPr kumimoji="1" lang="en-US" altLang="ko-KR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PyTorch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Hardware: RTX 4090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Episodes: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총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1,000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에피소드 진행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Evaluation Metric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Episode Reward: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한 에피소드에서 얻은 총점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Moving Average 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최근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100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에피소드의 평균 점수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Solved Requirement: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평균 점수가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200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점을 넘는 시점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84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6.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실험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5735" y="4611991"/>
            <a:ext cx="82698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학습 곡선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0 ~ 200 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탐험위주로 진행되어 점수가 매우 낮음 추락 빈도 높음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200 ~ 600 : Epsilon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이 줄어들며 착륙 요령을 학습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점수가 급격히 상승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가끔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호버링만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하다가 연료를 다 쓰는 경우 발생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600+ 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평균 점수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200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점 돌파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안정적으로 패드에 착륙함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B6B2F9DE-CE3A-45AA-9B60-9036B2A86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71" y="977250"/>
            <a:ext cx="6741686" cy="348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0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6.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실험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5735" y="4611991"/>
            <a:ext cx="82698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신뢰 구간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3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개의 서로 다른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Random Seed(0, 42, 777)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로 학습시킨 결과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수렴 속도에는 차이가 있었으나 모든 </a:t>
            </a:r>
            <a:r>
              <a:rPr kumimoji="1" lang="ko-KR" altLang="en-US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시드에서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800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에피소드 이내에 목표 점수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(200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점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)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를 달성함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594CD8-4EB0-45A0-A026-5C54E6E3A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29751"/>
              </p:ext>
            </p:extLst>
          </p:nvPr>
        </p:nvGraphicFramePr>
        <p:xfrm>
          <a:off x="1107988" y="1561756"/>
          <a:ext cx="6928024" cy="203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936">
                  <a:extLst>
                    <a:ext uri="{9D8B030D-6E8A-4147-A177-3AD203B41FA5}">
                      <a16:colId xmlns:a16="http://schemas.microsoft.com/office/drawing/2014/main" val="2301035362"/>
                    </a:ext>
                  </a:extLst>
                </a:gridCol>
                <a:gridCol w="1433384">
                  <a:extLst>
                    <a:ext uri="{9D8B030D-6E8A-4147-A177-3AD203B41FA5}">
                      <a16:colId xmlns:a16="http://schemas.microsoft.com/office/drawing/2014/main" val="2431143152"/>
                    </a:ext>
                  </a:extLst>
                </a:gridCol>
                <a:gridCol w="1087395">
                  <a:extLst>
                    <a:ext uri="{9D8B030D-6E8A-4147-A177-3AD203B41FA5}">
                      <a16:colId xmlns:a16="http://schemas.microsoft.com/office/drawing/2014/main" val="1642818331"/>
                    </a:ext>
                  </a:extLst>
                </a:gridCol>
                <a:gridCol w="3093309">
                  <a:extLst>
                    <a:ext uri="{9D8B030D-6E8A-4147-A177-3AD203B41FA5}">
                      <a16:colId xmlns:a16="http://schemas.microsoft.com/office/drawing/2014/main" val="3419534869"/>
                    </a:ext>
                  </a:extLst>
                </a:gridCol>
              </a:tblGrid>
              <a:tr h="67733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Agent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Avg Reward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Success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478816"/>
                  </a:ext>
                </a:extLst>
              </a:tr>
              <a:tr h="67733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-180.5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/>
                        <a:t>무작위 행동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대부분 추락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594798"/>
                  </a:ext>
                </a:extLst>
              </a:tr>
              <a:tr h="677332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DQN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/>
                        <a:t>+235.2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/>
                        <a:t>94%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/>
                        <a:t>부드러운 착륙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연료 효율적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103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56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8B1217"/>
            </a:gs>
            <a:gs pos="100000">
              <a:srgbClr val="920D14"/>
            </a:gs>
            <a:gs pos="0">
              <a:srgbClr val="741F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CF503-1CE8-2FA5-ABC9-FA931414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020C1A-F27F-F6BE-64AB-EBB5E7002447}"/>
              </a:ext>
            </a:extLst>
          </p:cNvPr>
          <p:cNvSpPr txBox="1"/>
          <p:nvPr/>
        </p:nvSpPr>
        <p:spPr>
          <a:xfrm>
            <a:off x="436971" y="327402"/>
            <a:ext cx="836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7. </a:t>
            </a:r>
            <a:r>
              <a:rPr kumimoji="1" lang="ko-KR" altLang="en-US" sz="24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결론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2E7B3-87EA-643E-F570-F7AC4F7ECE72}"/>
              </a:ext>
            </a:extLst>
          </p:cNvPr>
          <p:cNvSpPr txBox="1"/>
          <p:nvPr/>
        </p:nvSpPr>
        <p:spPr>
          <a:xfrm>
            <a:off x="435735" y="1053248"/>
            <a:ext cx="82698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실험 결과 고찰</a:t>
            </a: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DQN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알고리즘은 연속적인 상태 공간을 가진 </a:t>
            </a:r>
            <a:r>
              <a:rPr kumimoji="1" lang="en-US" altLang="ko-KR" sz="2000" dirty="0" err="1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LunarLander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문제를 해결하는 데 매우 효과적이었음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초반에는 착륙보다 공중에 떠있기를 먼저 학습하여 음수 보상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(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연료 소비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)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을 받는 구간이 있었으나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착륙 성공 보상을 경험한 후 빠르게 정책이 개선됨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보완 및 개선사항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Dueling DQN / Double DQN: Q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값의 과대평가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문제를 줄여 더 안정적인 학습 유도 가능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  <a:p>
            <a:endParaRPr kumimoji="1" lang="en-US" altLang="ko-KR" sz="2000" dirty="0">
              <a:solidFill>
                <a:schemeClr val="bg1"/>
              </a:solidFill>
              <a:latin typeface="SOGANG UNIVERSITY" pitchFamily="2" charset="-127"/>
              <a:ea typeface="SOGANG UNIVERSITY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Continuous Control: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현재는 엔진 켬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/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끔만 가능하지만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, PPO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나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SAC 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알고리즘을 적용하여 엔진 출력을 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0~100%</a:t>
            </a:r>
            <a:r>
              <a:rPr kumimoji="1" lang="ko-KR" altLang="en-US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로 세밀하게 조절하면 더 부드러운 착륙이 가능할 것으로 예상됨</a:t>
            </a:r>
            <a:r>
              <a:rPr kumimoji="1" lang="en-US" altLang="ko-KR" sz="2000" dirty="0">
                <a:solidFill>
                  <a:schemeClr val="bg1"/>
                </a:solidFill>
                <a:latin typeface="SOGANG UNIVERSITY" pitchFamily="2" charset="-127"/>
                <a:ea typeface="SOGANG UNIVERSITY" pitchFamily="2" charset="-127"/>
              </a:rPr>
              <a:t>.</a:t>
            </a:r>
          </a:p>
        </p:txBody>
      </p:sp>
      <p:cxnSp>
        <p:nvCxnSpPr>
          <p:cNvPr id="5" name="직선 연결선[R] 25">
            <a:extLst>
              <a:ext uri="{FF2B5EF4-FFF2-40B4-BE49-F238E27FC236}">
                <a16:creationId xmlns:a16="http://schemas.microsoft.com/office/drawing/2014/main" id="{E15E5738-B9CE-7B4D-85B7-42A01D6D5EC3}"/>
              </a:ext>
            </a:extLst>
          </p:cNvPr>
          <p:cNvCxnSpPr>
            <a:cxnSpLocks/>
          </p:cNvCxnSpPr>
          <p:nvPr/>
        </p:nvCxnSpPr>
        <p:spPr>
          <a:xfrm>
            <a:off x="437175" y="822794"/>
            <a:ext cx="8268415" cy="0"/>
          </a:xfrm>
          <a:prstGeom prst="line">
            <a:avLst/>
          </a:prstGeom>
          <a:ln w="28575" cap="rnd">
            <a:solidFill>
              <a:srgbClr val="C9CACA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37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7094</TotalTime>
  <Words>703</Words>
  <Application>Microsoft Office PowerPoint</Application>
  <PresentationFormat>화면 슬라이드 쇼(4:3)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SOGANG UNIVERSITY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최윤정</dc:creator>
  <cp:lastModifiedBy>user</cp:lastModifiedBy>
  <cp:revision>195</cp:revision>
  <dcterms:created xsi:type="dcterms:W3CDTF">2024-11-19T06:23:33Z</dcterms:created>
  <dcterms:modified xsi:type="dcterms:W3CDTF">2025-12-05T09:34:45Z</dcterms:modified>
</cp:coreProperties>
</file>